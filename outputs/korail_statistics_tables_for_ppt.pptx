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ea7c4508cf4eda" /><Relationship Type="http://schemas.openxmlformats.org/officeDocument/2006/relationships/extended-properties" Target="/docProps/app.xml" Id="Ra483819e8241485b" /><Relationship Type="http://schemas.openxmlformats.org/officeDocument/2006/relationships/officeDocument" Target="/ppt/presentation.xml" Id="R80613ac3e9d443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8093c1e5774ab1"/>
  </p:sldMasterIdLst>
  <p:notesMasterIdLst>
    <p:notesMasterId xmlns:r="http://schemas.openxmlformats.org/officeDocument/2006/relationships" r:id="Rbb104ded2ebb4499"/>
  </p:notesMasterIdLst>
  <p:sldIdLst>
    <p:sldId xmlns:r="http://schemas.openxmlformats.org/officeDocument/2006/relationships" id="256" r:id="R202c23871b084d8a"/>
    <p:sldId xmlns:r="http://schemas.openxmlformats.org/officeDocument/2006/relationships" id="257" r:id="Raf695642e75e4d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93e1b9fa25443f" /><Relationship Type="http://schemas.openxmlformats.org/officeDocument/2006/relationships/slideMaster" Target="/ppt/slideMasters/slideMaster1.xml" Id="Rce8093c1e5774ab1" /><Relationship Type="http://schemas.openxmlformats.org/officeDocument/2006/relationships/notesMaster" Target="/ppt/notesMasters/notesMaster1.xml" Id="Rbb104ded2ebb4499" /><Relationship Type="http://schemas.openxmlformats.org/officeDocument/2006/relationships/presProps" Target="/ppt/presProps.xml" Id="Rea7518ce199f4076" /><Relationship Type="http://schemas.openxmlformats.org/officeDocument/2006/relationships/tableStyles" Target="/ppt/tableStyles.xml" Id="Rb5ab332aee484fc3" /><Relationship Type="http://schemas.openxmlformats.org/officeDocument/2006/relationships/slide" Target="/ppt/slides/slide1.xml" Id="R202c23871b084d8a" /><Relationship Type="http://schemas.openxmlformats.org/officeDocument/2006/relationships/slide" Target="/ppt/slides/slide2.xml" Id="Raf695642e75e4d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4423ad11254d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8aa5605c5a408b" /><Relationship Type="http://schemas.openxmlformats.org/officeDocument/2006/relationships/notesMaster" Target="/ppt/notesMasters/notesMaster1.xml" Id="R1adfc184a9cd49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61b1b95d4c4b7a" /><Relationship Type="http://schemas.openxmlformats.org/officeDocument/2006/relationships/notesMaster" Target="/ppt/notesMasters/notesMaster1.xml" Id="R82b7fa9e140046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6e19fcca44e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ec8f9166ba4281" /><Relationship Type="http://schemas.openxmlformats.org/officeDocument/2006/relationships/slideLayout" Target="/ppt/slideLayouts/slideLayout1.xml" Id="Rc8ded0744bb542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ded0744bb542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1945888d844a3" /><Relationship Type="http://schemas.openxmlformats.org/officeDocument/2006/relationships/notesSlide" Target="/ppt/notesSlides/notesSlide1.xml" Id="R31158c73e9f749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bc77b04a2426a" /><Relationship Type="http://schemas.openxmlformats.org/officeDocument/2006/relationships/notesSlide" Target="/ppt/notesSlides/notesSlide2.xml" Id="R5f76907597964d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FE1416FE-43DE-481F-BE43-F9CD9045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A"/>
          </a:solidFill>
          <a:ln xmlns:a="http://schemas.openxmlformats.org/drawingml/2006/main" w="0">
            <a:solidFill>
              <a:srgbClr val="14324A"/>
            </a:solidFill>
            <a:prstDash val="solid"/>
          </a:ln>
        </p:spPr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9FC1042-3218-4695-8359-8C5EB9FC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EB5BBCE-F7E8-466A-AEA1-20A99C45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FHCI Korail Analysis Results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81DC05-A950-45A0-8E8C-2198BE4F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Behavioral Metrics Statistical Summary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4BCF4C1-B226-4CEC-A725-09F28C42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Variant A vs B paired comparison (n=40) · Lower values indicate better performance</a:t>
            </a:r>
          </a:p>
        </p:txBody>
      </p:sp>
      <p:sp>
        <p:nvSpPr>
          <p:cNvPr id="6" name="tile-Metrics Favoring B">
            <a:extLst xmlns:a="http://schemas.openxmlformats.org/drawingml/2006/main">
              <a:ext uri="{FF2B5EF4-FFF2-40B4-BE49-F238E27FC236}">
                <a16:creationId xmlns:a16="http://schemas.microsoft.com/office/drawing/2014/main" id="{D36EB4A2-AD7B-4BC3-ADD0-D0638D71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ile-value-Metrics Favoring B">
            <a:extLst xmlns:a="http://schemas.openxmlformats.org/drawingml/2006/main">
              <a:ext uri="{FF2B5EF4-FFF2-40B4-BE49-F238E27FC236}">
                <a16:creationId xmlns:a16="http://schemas.microsoft.com/office/drawing/2014/main" id="{172264D2-9C5F-47D5-826C-F2B7624B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12 / 12</a:t>
            </a:r>
          </a:p>
        </p:txBody>
      </p:sp>
      <p:sp>
        <p:nvSpPr>
          <p:cNvPr id="8" name="tile-label-Metrics Favoring B">
            <a:extLst xmlns:a="http://schemas.openxmlformats.org/drawingml/2006/main">
              <a:ext uri="{FF2B5EF4-FFF2-40B4-BE49-F238E27FC236}">
                <a16:creationId xmlns:a16="http://schemas.microsoft.com/office/drawing/2014/main" id="{E638B2C1-B9D2-451C-B808-8EDB563D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Metrics Favoring B</a:t>
            </a:r>
          </a:p>
        </p:txBody>
      </p:sp>
      <p:sp>
        <p:nvSpPr>
          <p:cNvPr id="9" name="tile-Statistically Significant">
            <a:extLst xmlns:a="http://schemas.openxmlformats.org/drawingml/2006/main">
              <a:ext uri="{FF2B5EF4-FFF2-40B4-BE49-F238E27FC236}">
                <a16:creationId xmlns:a16="http://schemas.microsoft.com/office/drawing/2014/main" id="{154B366B-F153-404E-8960-9B8AC972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6685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ile-value-Statistically Significant">
            <a:extLst xmlns:a="http://schemas.openxmlformats.org/drawingml/2006/main">
              <a:ext uri="{FF2B5EF4-FFF2-40B4-BE49-F238E27FC236}">
                <a16:creationId xmlns:a16="http://schemas.microsoft.com/office/drawing/2014/main" id="{8B5C9AD7-CB65-4F2C-9C97-EFCF732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430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6653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6534"/>
                </a:solidFill>
                <a:latin typeface="Malgun Gothic"/>
                <a:ea typeface="Malgun Gothic"/>
                <a:cs typeface="Malgun Gothic"/>
              </a:rPr>
              <a:t>10 / 12</a:t>
            </a:r>
          </a:p>
        </p:txBody>
      </p:sp>
      <p:sp>
        <p:nvSpPr>
          <p:cNvPr id="11" name="tile-label-Statistically Significant">
            <a:extLst xmlns:a="http://schemas.openxmlformats.org/drawingml/2006/main">
              <a:ext uri="{FF2B5EF4-FFF2-40B4-BE49-F238E27FC236}">
                <a16:creationId xmlns:a16="http://schemas.microsoft.com/office/drawing/2014/main" id="{2EEAFE86-F648-4E3F-82DA-C2712485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Statistically Significant</a:t>
            </a:r>
          </a:p>
        </p:txBody>
      </p:sp>
      <p:sp>
        <p:nvSpPr>
          <p:cNvPr id="12" name="tile-Largest Mean Improvement">
            <a:extLst xmlns:a="http://schemas.openxmlformats.org/drawingml/2006/main">
              <a:ext uri="{FF2B5EF4-FFF2-40B4-BE49-F238E27FC236}">
                <a16:creationId xmlns:a16="http://schemas.microsoft.com/office/drawing/2014/main" id="{B7694877-DE07-42D9-BF9F-89741075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6685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ile-value-Largest Mean Improvement">
            <a:extLst xmlns:a="http://schemas.openxmlformats.org/drawingml/2006/main">
              <a:ext uri="{FF2B5EF4-FFF2-40B4-BE49-F238E27FC236}">
                <a16:creationId xmlns:a16="http://schemas.microsoft.com/office/drawing/2014/main" id="{5EF2DA6F-3119-4BB5-8ABA-3729638E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430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T1 · 13.7</a:t>
            </a:r>
          </a:p>
        </p:txBody>
      </p:sp>
      <p:sp>
        <p:nvSpPr>
          <p:cNvPr id="14" name="tile-label-Largest Mean Improvement">
            <a:extLst xmlns:a="http://schemas.openxmlformats.org/drawingml/2006/main">
              <a:ext uri="{FF2B5EF4-FFF2-40B4-BE49-F238E27FC236}">
                <a16:creationId xmlns:a16="http://schemas.microsoft.com/office/drawing/2014/main" id="{E2B95DAA-2DDE-44A8-A68F-3C8F6126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907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Largest Mean Improvement</a:t>
            </a:r>
          </a:p>
        </p:txBody>
      </p:sp>
      <p:sp>
        <p:nvSpPr>
          <p:cNvPr id="15" name="tile-Display Rule">
            <a:extLst xmlns:a="http://schemas.openxmlformats.org/drawingml/2006/main">
              <a:ext uri="{FF2B5EF4-FFF2-40B4-BE49-F238E27FC236}">
                <a16:creationId xmlns:a16="http://schemas.microsoft.com/office/drawing/2014/main" id="{D8EB3C63-80E5-45B8-A2F8-3DB83B94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6685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tile-value-Display Rule">
            <a:extLst xmlns:a="http://schemas.openxmlformats.org/drawingml/2006/main">
              <a:ext uri="{FF2B5EF4-FFF2-40B4-BE49-F238E27FC236}">
                <a16:creationId xmlns:a16="http://schemas.microsoft.com/office/drawing/2014/main" id="{0AB47E69-CDEE-4629-BDBD-3D96CDBA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24A"/>
                </a:solidFill>
                <a:latin typeface="Malgun Gothic"/>
                <a:ea typeface="Malgun Gothic"/>
                <a:cs typeface="Malgun Gothic"/>
              </a:rPr>
              <a:t>A - B</a:t>
            </a:r>
          </a:p>
        </p:txBody>
      </p:sp>
      <p:sp>
        <p:nvSpPr>
          <p:cNvPr id="17" name="tile-label-Display Rule">
            <a:extLst xmlns:a="http://schemas.openxmlformats.org/drawingml/2006/main">
              <a:ext uri="{FF2B5EF4-FFF2-40B4-BE49-F238E27FC236}">
                <a16:creationId xmlns:a16="http://schemas.microsoft.com/office/drawing/2014/main" id="{A9D5E0A5-405C-41CD-86CF-3ACCE790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Display Rule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08204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"/>
                <a:gridCol w="2857500"/>
                <a:gridCol w="800100"/>
                <a:gridCol w="714375"/>
                <a:gridCol w="800100"/>
                <a:gridCol w="714375"/>
                <a:gridCol w="781050"/>
                <a:gridCol w="685800"/>
                <a:gridCol w="1219200"/>
                <a:gridCol w="1123950"/>
                <a:gridCol w="628650"/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Task</a:t>
                      </a:r>
                    </a:p>
                  </a:txBody>
                  <a:tcPr marL="47625" marR="47625" marT="38100" marB="38100" anchor="ctr"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Metric</a:t>
                      </a:r>
                    </a:p>
                  </a:txBody>
                  <a:tcPr marL="47625" marR="47625" marT="38100" marB="38100" anchor="ctr"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Mean</a:t>
                      </a:r>
                    </a:p>
                  </a:txBody>
                  <a:tcPr marL="47625" marR="47625" marT="38100" marB="38100" anchor="ctr"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SD</a:t>
                      </a:r>
                    </a:p>
                  </a:txBody>
                  <a:tcPr marL="47625" marR="47625" marT="38100" marB="38100" anchor="ctr"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Mean</a:t>
                      </a:r>
                    </a:p>
                  </a:txBody>
                  <a:tcPr marL="47625" marR="47625" marT="38100" marB="38100" anchor="ctr"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SD</a:t>
                      </a:r>
                    </a:p>
                  </a:txBody>
                  <a:tcPr marL="47625" marR="47625" marT="38100" marB="38100" anchor="ctr"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Delta</a:t>
                      </a:r>
                    </a:p>
                  </a:txBody>
                  <a:tcPr marL="47625" marR="47625" marT="38100" marB="38100" anchor="ctr"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Gain</a:t>
                      </a:r>
                    </a:p>
                  </a:txBody>
                  <a:tcPr marL="47625" marR="47625" marT="38100" marB="38100" anchor="ctr"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p-value</a:t>
                      </a:r>
                    </a:p>
                  </a:txBody>
                  <a:tcPr marL="47625" marR="47625" marT="38100" marB="38100" anchor="ctr"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Effect</a:t>
                      </a:r>
                    </a:p>
                  </a:txBody>
                  <a:tcPr marL="47625" marR="47625" marT="38100" marB="38100" anchor="ctr"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Sig.</a:t>
                      </a:r>
                    </a:p>
                  </a:txBody>
                  <a:tcPr marL="47625" marR="47625" marT="38100" marB="38100" anchor="ctr">
                    <a:solidFill>
                      <a:srgbClr val="14324A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Completion time (sec)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26.0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17.3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12.4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7.5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13.7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52%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 &lt; .001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r=0.89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665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Sig.</a:t>
                      </a:r>
                    </a:p>
                  </a:txBody>
                  <a:tcPr marL="47625" marR="47625" marT="38100" marB="38100" anchor="ctr">
                    <a:solidFill>
                      <a:srgbClr val="E6F4EA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Clicks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14.6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13.5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6.5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6.4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8.1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55%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 &lt; .001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r=0.87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665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Sig.</a:t>
                      </a:r>
                    </a:p>
                  </a:txBody>
                  <a:tcPr marL="47625" marR="47625" marT="38100" marB="38100" anchor="ctr">
                    <a:solidFill>
                      <a:srgbClr val="E6F4EA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Misclicks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6.3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6.2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2.5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70%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 &lt; .001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r=0.81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665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Sig.</a:t>
                      </a:r>
                    </a:p>
                  </a:txBody>
                  <a:tcPr marL="47625" marR="47625" marT="38100" marB="38100" anchor="ctr">
                    <a:solidFill>
                      <a:srgbClr val="E6F4EA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Page transitions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9.5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2.3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5.5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4.0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42%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 &lt; .001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r=1.00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665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Sig.</a:t>
                      </a:r>
                    </a:p>
                  </a:txBody>
                  <a:tcPr marL="47625" marR="47625" marT="38100" marB="38100" anchor="ctr">
                    <a:solidFill>
                      <a:srgbClr val="E6F4EA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T2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Completion time (sec)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7.1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5.3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5.6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1.5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21%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 = .032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r=0.39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665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Sig.</a:t>
                      </a:r>
                    </a:p>
                  </a:txBody>
                  <a:tcPr marL="47625" marR="47625" marT="38100" marB="38100" anchor="ctr">
                    <a:solidFill>
                      <a:srgbClr val="E6F4EA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T2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Clicks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5.2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3.0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4.3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1.5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18%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 = .086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r=0.36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9240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n.s.</a:t>
                      </a:r>
                    </a:p>
                  </a:txBody>
                  <a:tcPr marL="47625" marR="47625" marT="38100" marB="38100" anchor="ctr">
                    <a:solidFill>
                      <a:srgbClr val="FEF3C7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T2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Misclicks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92%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 = .039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r=0.86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665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Sig.</a:t>
                      </a:r>
                    </a:p>
                  </a:txBody>
                  <a:tcPr marL="47625" marR="47625" marT="38100" marB="38100" anchor="ctr">
                    <a:solidFill>
                      <a:srgbClr val="E6F4EA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T2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Page transitions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5.0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2.6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4.4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1.4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12%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 = .079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r=0.42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9240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n.s.</a:t>
                      </a:r>
                    </a:p>
                  </a:txBody>
                  <a:tcPr marL="47625" marR="47625" marT="38100" marB="38100" anchor="ctr">
                    <a:solidFill>
                      <a:srgbClr val="FEF3C7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T3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Completion time (sec)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14.6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7.0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4.3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5.4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37%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 &lt; .001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dz=0.80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665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Sig.</a:t>
                      </a:r>
                    </a:p>
                  </a:txBody>
                  <a:tcPr marL="47625" marR="47625" marT="38100" marB="38100" anchor="ctr">
                    <a:solidFill>
                      <a:srgbClr val="E6F4EA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T3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Clicks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10.3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5.8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1.7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4.5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44%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 &lt; .001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dz=1.34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665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Sig.</a:t>
                      </a:r>
                    </a:p>
                  </a:txBody>
                  <a:tcPr marL="47625" marR="47625" marT="38100" marB="38100" anchor="ctr">
                    <a:solidFill>
                      <a:srgbClr val="E6F4EA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T3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Misclicks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1.5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68%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 = .008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r=0.68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665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Sig.</a:t>
                      </a:r>
                    </a:p>
                  </a:txBody>
                  <a:tcPr marL="47625" marR="47625" marT="38100" marB="38100" anchor="ctr">
                    <a:solidFill>
                      <a:srgbClr val="E6F4EA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T3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Page transitions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9.4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2.8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5.6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3.8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40%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 &lt; .001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r=0.91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665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Sig.</a:t>
                      </a:r>
                    </a:p>
                  </a:txBody>
                  <a:tcPr marL="47625" marR="47625" marT="38100" marB="38100" anchor="ctr"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sp>
        <p:nvSpPr>
          <p:cNvPr id="1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4D69651-78C8-4A7E-AC93-45FA5E90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Source: behavioral_statistics_summary.csv · Effect size: r for Wilcoxon rows; Cohen's dz for paired t-test rows</a:t>
            </a:r>
          </a:p>
        </p:txBody>
      </p:sp>
    </p:spTree>
    <p:extLst>
      <p:ext uri="{BB962C8B-B14F-4D97-AF65-F5344CB8AC3E}">
        <p14:creationId xmlns:p14="http://schemas.microsoft.com/office/powerpoint/2010/main" val="372334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824666CE-7680-4054-BEBB-7ADF6B95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A"/>
          </a:solidFill>
          <a:ln xmlns:a="http://schemas.openxmlformats.org/drawingml/2006/main" w="0">
            <a:solidFill>
              <a:srgbClr val="14324A"/>
            </a:solidFill>
            <a:prstDash val="solid"/>
          </a:ln>
        </p:spPr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72767B10-716E-4AE0-8427-DA011639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B89E262-96D2-4FD9-A693-73A9E46B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FHCI Korail Analysis Results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CC22E1-16E8-4882-90AC-C31F30C0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Survey Metrics Statistical Summary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AEA64FE-202F-4BB9-8793-210CFAD7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Variant A vs B paired comparison (n=40) · Higher survey scores indicate more positive ratings</a:t>
            </a:r>
          </a:p>
        </p:txBody>
      </p:sp>
      <p:sp>
        <p:nvSpPr>
          <p:cNvPr id="6" name="tile-Constructs Favoring B">
            <a:extLst xmlns:a="http://schemas.openxmlformats.org/drawingml/2006/main">
              <a:ext uri="{FF2B5EF4-FFF2-40B4-BE49-F238E27FC236}">
                <a16:creationId xmlns:a16="http://schemas.microsoft.com/office/drawing/2014/main" id="{24ED7971-568B-408A-8D50-3D3F8B6F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571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ile-value-Constructs Favoring B">
            <a:extLst xmlns:a="http://schemas.openxmlformats.org/drawingml/2006/main">
              <a:ext uri="{FF2B5EF4-FFF2-40B4-BE49-F238E27FC236}">
                <a16:creationId xmlns:a16="http://schemas.microsoft.com/office/drawing/2014/main" id="{87F0681F-3F9C-4E9F-98B2-7ED2B0F5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4 / 4</a:t>
            </a:r>
          </a:p>
        </p:txBody>
      </p:sp>
      <p:sp>
        <p:nvSpPr>
          <p:cNvPr id="8" name="tile-label-Constructs Favoring B">
            <a:extLst xmlns:a="http://schemas.openxmlformats.org/drawingml/2006/main">
              <a:ext uri="{FF2B5EF4-FFF2-40B4-BE49-F238E27FC236}">
                <a16:creationId xmlns:a16="http://schemas.microsoft.com/office/drawing/2014/main" id="{314F43D8-38C7-43B6-B475-7A7F1063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Constructs Favoring B</a:t>
            </a:r>
          </a:p>
        </p:txBody>
      </p:sp>
      <p:sp>
        <p:nvSpPr>
          <p:cNvPr id="9" name="tile-Mean Improvement Range">
            <a:extLst xmlns:a="http://schemas.openxmlformats.org/drawingml/2006/main">
              <a:ext uri="{FF2B5EF4-FFF2-40B4-BE49-F238E27FC236}">
                <a16:creationId xmlns:a16="http://schemas.microsoft.com/office/drawing/2014/main" id="{F298D59C-8E74-46F1-97B7-1588FEF1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66850"/>
            <a:ext cx="2571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ile-value-Mean Improvement Range">
            <a:extLst xmlns:a="http://schemas.openxmlformats.org/drawingml/2006/main">
              <a:ext uri="{FF2B5EF4-FFF2-40B4-BE49-F238E27FC236}">
                <a16:creationId xmlns:a16="http://schemas.microsoft.com/office/drawing/2014/main" id="{0AAA0A75-F4CE-46E9-B146-B02D906A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430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6653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6534"/>
                </a:solidFill>
                <a:latin typeface="Malgun Gothic"/>
                <a:ea typeface="Malgun Gothic"/>
                <a:cs typeface="Malgun Gothic"/>
              </a:rPr>
              <a:t>+0.89 ~ +2.13</a:t>
            </a:r>
          </a:p>
        </p:txBody>
      </p:sp>
      <p:sp>
        <p:nvSpPr>
          <p:cNvPr id="11" name="tile-label-Mean Improvement Range">
            <a:extLst xmlns:a="http://schemas.openxmlformats.org/drawingml/2006/main">
              <a:ext uri="{FF2B5EF4-FFF2-40B4-BE49-F238E27FC236}">
                <a16:creationId xmlns:a16="http://schemas.microsoft.com/office/drawing/2014/main" id="{8C4A6CCA-714A-4E16-970B-8A45E04F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90700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Mean Improvement Range</a:t>
            </a:r>
          </a:p>
        </p:txBody>
      </p:sp>
      <p:sp>
        <p:nvSpPr>
          <p:cNvPr id="12" name="tile-Largest Mean Gain">
            <a:extLst xmlns:a="http://schemas.openxmlformats.org/drawingml/2006/main">
              <a:ext uri="{FF2B5EF4-FFF2-40B4-BE49-F238E27FC236}">
                <a16:creationId xmlns:a16="http://schemas.microsoft.com/office/drawing/2014/main" id="{BF2BFB05-69D9-46E8-9870-2B408CBA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66850"/>
            <a:ext cx="2571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ile-value-Largest Mean Gain">
            <a:extLst xmlns:a="http://schemas.openxmlformats.org/drawingml/2006/main">
              <a:ext uri="{FF2B5EF4-FFF2-40B4-BE49-F238E27FC236}">
                <a16:creationId xmlns:a16="http://schemas.microsoft.com/office/drawing/2014/main" id="{1C205A87-D79F-44C4-932C-AD220A64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T3 · +2.13</a:t>
            </a:r>
          </a:p>
        </p:txBody>
      </p:sp>
      <p:sp>
        <p:nvSpPr>
          <p:cNvPr id="14" name="tile-label-Largest Mean Gain">
            <a:extLst xmlns:a="http://schemas.openxmlformats.org/drawingml/2006/main">
              <a:ext uri="{FF2B5EF4-FFF2-40B4-BE49-F238E27FC236}">
                <a16:creationId xmlns:a16="http://schemas.microsoft.com/office/drawing/2014/main" id="{E57854E5-6CE7-41C1-AB47-C46D7055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Largest Mean Gain</a:t>
            </a:r>
          </a:p>
        </p:txBody>
      </p:sp>
      <p:sp>
        <p:nvSpPr>
          <p:cNvPr id="15" name="tile-Largest Effect Size">
            <a:extLst xmlns:a="http://schemas.openxmlformats.org/drawingml/2006/main">
              <a:ext uri="{FF2B5EF4-FFF2-40B4-BE49-F238E27FC236}">
                <a16:creationId xmlns:a16="http://schemas.microsoft.com/office/drawing/2014/main" id="{DA5EEC5F-6397-429C-86D7-1A429863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66850"/>
            <a:ext cx="2476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tile-value-Largest Effect Size">
            <a:extLst xmlns:a="http://schemas.openxmlformats.org/drawingml/2006/main">
              <a:ext uri="{FF2B5EF4-FFF2-40B4-BE49-F238E27FC236}">
                <a16:creationId xmlns:a16="http://schemas.microsoft.com/office/drawing/2014/main" id="{A71AD705-1E55-4426-9B01-E76AE2FE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430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24A"/>
                </a:solidFill>
                <a:latin typeface="Malgun Gothic"/>
                <a:ea typeface="Malgun Gothic"/>
                <a:cs typeface="Malgun Gothic"/>
              </a:rPr>
              <a:t>dz=1.67</a:t>
            </a:r>
          </a:p>
        </p:txBody>
      </p:sp>
      <p:sp>
        <p:nvSpPr>
          <p:cNvPr id="17" name="tile-label-Largest Effect Size">
            <a:extLst xmlns:a="http://schemas.openxmlformats.org/drawingml/2006/main">
              <a:ext uri="{FF2B5EF4-FFF2-40B4-BE49-F238E27FC236}">
                <a16:creationId xmlns:a16="http://schemas.microsoft.com/office/drawing/2014/main" id="{A9D24BB8-D37A-4E9C-8897-6818631A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9070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Largest Effect Size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2343150"/>
          <a:ext xmlns:a="http://schemas.openxmlformats.org/drawingml/2006/main" cx="108204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"/>
                <a:gridCol w="3238500"/>
                <a:gridCol w="838200"/>
                <a:gridCol w="685800"/>
                <a:gridCol w="838200"/>
                <a:gridCol w="685800"/>
                <a:gridCol w="819150"/>
                <a:gridCol w="1219200"/>
                <a:gridCol w="1162050"/>
                <a:gridCol w="781050"/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Task</a:t>
                      </a:r>
                    </a:p>
                  </a:txBody>
                  <a:tcPr marL="47625" marR="47625" marT="38100" marB="38100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Construct</a:t>
                      </a:r>
                    </a:p>
                  </a:txBody>
                  <a:tcPr marL="47625" marR="47625" marT="38100" marB="38100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Mean</a:t>
                      </a:r>
                    </a:p>
                  </a:txBody>
                  <a:tcPr marL="47625" marR="47625" marT="38100" marB="38100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SD</a:t>
                      </a:r>
                    </a:p>
                  </a:txBody>
                  <a:tcPr marL="47625" marR="47625" marT="38100" marB="38100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Mean</a:t>
                      </a:r>
                    </a:p>
                  </a:txBody>
                  <a:tcPr marL="47625" marR="47625" marT="38100" marB="38100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SD</a:t>
                      </a:r>
                    </a:p>
                  </a:txBody>
                  <a:tcPr marL="47625" marR="47625" marT="38100" marB="38100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Delta</a:t>
                      </a:r>
                    </a:p>
                  </a:txBody>
                  <a:tcPr marL="47625" marR="47625" marT="38100" marB="38100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p-value</a:t>
                      </a:r>
                    </a:p>
                  </a:txBody>
                  <a:tcPr marL="47625" marR="47625" marT="38100" marB="38100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Effect</a:t>
                      </a:r>
                    </a:p>
                  </a:txBody>
                  <a:tcPr marL="47625" marR="47625" marT="38100" marB="38100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Sig.</a:t>
                      </a:r>
                    </a:p>
                  </a:txBody>
                  <a:tcPr marL="47625" marR="47625" marT="38100" marB="38100" anchor="ctr">
                    <a:solidFill>
                      <a:srgbClr val="0F766E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Error Prevention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3.76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1.26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4.65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1.09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+0.89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 &lt; .001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dz=0.59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665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Sig.</a:t>
                      </a:r>
                    </a:p>
                  </a:txBody>
                  <a:tcPr marL="47625" marR="47625" marT="38100" marB="38100" anchor="ctr">
                    <a:solidFill>
                      <a:srgbClr val="E6F4E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T2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Flexibility / Controllability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3.83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1.19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5.25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0.63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+1.42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 &lt; .001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dz=1.03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665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Sig.</a:t>
                      </a:r>
                    </a:p>
                  </a:txBody>
                  <a:tcPr marL="47625" marR="47625" marT="38100" marB="38100" anchor="ctr">
                    <a:solidFill>
                      <a:srgbClr val="E6F4E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T3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Recognition Rather Than Recall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3.34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1.15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5.42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0.72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+2.08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 &lt; .001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dz=1.67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665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Sig.</a:t>
                      </a:r>
                    </a:p>
                  </a:txBody>
                  <a:tcPr marL="47625" marR="47625" marT="38100" marB="38100" anchor="ctr">
                    <a:solidFill>
                      <a:srgbClr val="E6F4E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T3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Visibility of System Status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3.29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1.16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5.42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0.76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+2.13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 &lt; .001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dz=1.54</a:t>
                      </a:r>
                    </a:p>
                  </a:txBody>
                  <a:tcPr marL="47625" marR="47625" marT="38100" marB="38100" anchor="ctr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665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Sig.</a:t>
                      </a:r>
                    </a:p>
                  </a:txBody>
                  <a:tcPr marL="47625" marR="47625" marT="38100" marB="38100" anchor="ctr"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sp>
        <p:nvSpPr>
          <p:cNvPr id="19" name="survey-insight">
            <a:extLst xmlns:a="http://schemas.openxmlformats.org/drawingml/2006/main">
              <a:ext uri="{FF2B5EF4-FFF2-40B4-BE49-F238E27FC236}">
                <a16:creationId xmlns:a16="http://schemas.microsoft.com/office/drawing/2014/main" id="{BB1061E3-A619-4314-ACC5-B71495A7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7E4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16653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6534"/>
                </a:solidFill>
                <a:latin typeface="Malgun Gothic"/>
                <a:ea typeface="Malgun Gothic"/>
                <a:cs typeface="Malgun Gothic"/>
              </a:rPr>
              <a:t>The largest mean improvement was in "Visibility of System Status" (+2.13), and Variant B was significantly higher across all survey constructs.</a:t>
            </a:r>
          </a:p>
        </p:txBody>
      </p:sp>
      <p:sp>
        <p:nvSpPr>
          <p:cNvPr id="2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F368A8C-62BA-4DDA-B357-E91A3409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Source: survey_statistics_summary.csv · Effect size: Cohen's dz</a:t>
            </a:r>
          </a:p>
        </p:txBody>
      </p:sp>
    </p:spTree>
    <p:extLst>
      <p:ext uri="{BB962C8B-B14F-4D97-AF65-F5344CB8AC3E}">
        <p14:creationId xmlns:p14="http://schemas.microsoft.com/office/powerpoint/2010/main" val="1318798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2026-06-25T13:05:52.3980000Z</dcterms:created>
  <dcterms:modified xsi:type="dcterms:W3CDTF">2026-06-25T13:05:52.3980000Z</dcterms:modified>
</coreProperties>
</file>